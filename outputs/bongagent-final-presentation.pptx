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a6d87829b1048c8" /><Relationship Type="http://schemas.openxmlformats.org/officeDocument/2006/relationships/extended-properties" Target="/docProps/app.xml" Id="R00cf7d2217b84fdf" /><Relationship Type="http://schemas.openxmlformats.org/officeDocument/2006/relationships/officeDocument" Target="/ppt/presentation.xml" Id="R65369d9c0d4e4a5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2b01890f4364d24"/>
  </p:sldMasterIdLst>
  <p:notesMasterIdLst>
    <p:notesMasterId xmlns:r="http://schemas.openxmlformats.org/officeDocument/2006/relationships" r:id="R12a602e8b6a8423b"/>
  </p:notesMasterIdLst>
  <p:sldIdLst>
    <p:sldId xmlns:r="http://schemas.openxmlformats.org/officeDocument/2006/relationships" id="256" r:id="Ra26c1d25abbe4564"/>
    <p:sldId xmlns:r="http://schemas.openxmlformats.org/officeDocument/2006/relationships" id="257" r:id="R66472d049b3c40a6"/>
    <p:sldId xmlns:r="http://schemas.openxmlformats.org/officeDocument/2006/relationships" id="258" r:id="Ra3dcf8baf33946e1"/>
    <p:sldId xmlns:r="http://schemas.openxmlformats.org/officeDocument/2006/relationships" id="259" r:id="R77b18b36d4fc4194"/>
    <p:sldId xmlns:r="http://schemas.openxmlformats.org/officeDocument/2006/relationships" id="260" r:id="R505760dd835e4431"/>
    <p:sldId xmlns:r="http://schemas.openxmlformats.org/officeDocument/2006/relationships" id="261" r:id="R6d896ecc92434618"/>
    <p:sldId xmlns:r="http://schemas.openxmlformats.org/officeDocument/2006/relationships" id="262" r:id="R11cb39d76e3642ef"/>
    <p:sldId xmlns:r="http://schemas.openxmlformats.org/officeDocument/2006/relationships" id="263" r:id="R347a5149f22b424c"/>
    <p:sldId xmlns:r="http://schemas.openxmlformats.org/officeDocument/2006/relationships" id="264" r:id="R4b6396e24f2c4d09"/>
    <p:sldId xmlns:r="http://schemas.openxmlformats.org/officeDocument/2006/relationships" id="265" r:id="Ra7f2bd873ed64bd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08b41faa2274239" /><Relationship Type="http://schemas.openxmlformats.org/officeDocument/2006/relationships/slideMaster" Target="/ppt/slideMasters/slideMaster1.xml" Id="Re2b01890f4364d24" /><Relationship Type="http://schemas.openxmlformats.org/officeDocument/2006/relationships/notesMaster" Target="/ppt/notesMasters/notesMaster1.xml" Id="R12a602e8b6a8423b" /><Relationship Type="http://schemas.openxmlformats.org/officeDocument/2006/relationships/presProps" Target="/ppt/presProps.xml" Id="Raec894177f644c16" /><Relationship Type="http://schemas.openxmlformats.org/officeDocument/2006/relationships/tableStyles" Target="/ppt/tableStyles.xml" Id="R0757aebb539244be" /><Relationship Type="http://schemas.openxmlformats.org/officeDocument/2006/relationships/slide" Target="/ppt/slides/slide1.xml" Id="Ra26c1d25abbe4564" /><Relationship Type="http://schemas.openxmlformats.org/officeDocument/2006/relationships/slide" Target="/ppt/slides/slide2.xml" Id="R66472d049b3c40a6" /><Relationship Type="http://schemas.openxmlformats.org/officeDocument/2006/relationships/slide" Target="/ppt/slides/slide3.xml" Id="Ra3dcf8baf33946e1" /><Relationship Type="http://schemas.openxmlformats.org/officeDocument/2006/relationships/slide" Target="/ppt/slides/slide4.xml" Id="R77b18b36d4fc4194" /><Relationship Type="http://schemas.openxmlformats.org/officeDocument/2006/relationships/slide" Target="/ppt/slides/slide5.xml" Id="R505760dd835e4431" /><Relationship Type="http://schemas.openxmlformats.org/officeDocument/2006/relationships/slide" Target="/ppt/slides/slide6.xml" Id="R6d896ecc92434618" /><Relationship Type="http://schemas.openxmlformats.org/officeDocument/2006/relationships/slide" Target="/ppt/slides/slide7.xml" Id="R11cb39d76e3642ef" /><Relationship Type="http://schemas.openxmlformats.org/officeDocument/2006/relationships/slide" Target="/ppt/slides/slide8.xml" Id="R347a5149f22b424c" /><Relationship Type="http://schemas.openxmlformats.org/officeDocument/2006/relationships/slide" Target="/ppt/slides/slide9.xml" Id="R4b6396e24f2c4d09" /><Relationship Type="http://schemas.openxmlformats.org/officeDocument/2006/relationships/slide" Target="/ppt/slides/slide10.xml" Id="Ra7f2bd873ed64bd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9734e87f9e640e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c40247577f04f77" /><Relationship Type="http://schemas.openxmlformats.org/officeDocument/2006/relationships/notesMaster" Target="/ppt/notesMasters/notesMaster1.xml" Id="R82338af0d5c3404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c8f0992c4e24116" /><Relationship Type="http://schemas.openxmlformats.org/officeDocument/2006/relationships/notesMaster" Target="/ppt/notesMasters/notesMaster1.xml" Id="Rd7c00b0c045346f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a65c4845efc4c8f" /><Relationship Type="http://schemas.openxmlformats.org/officeDocument/2006/relationships/notesMaster" Target="/ppt/notesMasters/notesMaster1.xml" Id="R3897b3629299451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c6fa9da95524167" /><Relationship Type="http://schemas.openxmlformats.org/officeDocument/2006/relationships/notesMaster" Target="/ppt/notesMasters/notesMaster1.xml" Id="R3cab1b1f7f8e4fa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abbbcca2e70406e" /><Relationship Type="http://schemas.openxmlformats.org/officeDocument/2006/relationships/notesMaster" Target="/ppt/notesMasters/notesMaster1.xml" Id="Rb615ac725e3a466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fbc83c483954fef" /><Relationship Type="http://schemas.openxmlformats.org/officeDocument/2006/relationships/notesMaster" Target="/ppt/notesMasters/notesMaster1.xml" Id="Rccf45442fed14df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288b5ceb0f34ee3" /><Relationship Type="http://schemas.openxmlformats.org/officeDocument/2006/relationships/notesMaster" Target="/ppt/notesMasters/notesMaster1.xml" Id="Rc8277ad96d4b4d1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5510f22f1bd43a1" /><Relationship Type="http://schemas.openxmlformats.org/officeDocument/2006/relationships/notesMaster" Target="/ppt/notesMasters/notesMaster1.xml" Id="Ra4f7a0243bd140e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7b57516deec4605" /><Relationship Type="http://schemas.openxmlformats.org/officeDocument/2006/relationships/notesMaster" Target="/ppt/notesMasters/notesMaster1.xml" Id="R9503456559be4a2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6bce84a5e254dc4" /><Relationship Type="http://schemas.openxmlformats.org/officeDocument/2006/relationships/notesMaster" Target="/ppt/notesMasters/notesMaster1.xml" Id="Rbeed9c549e70412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bb4ba6e6a2453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8b1b7775c544cbb" /><Relationship Type="http://schemas.openxmlformats.org/officeDocument/2006/relationships/slideLayout" Target="/ppt/slideLayouts/slideLayout1.xml" Id="R5b5fb490b46b449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b5fb490b46b449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a56352637f444b" /><Relationship Type="http://schemas.openxmlformats.org/officeDocument/2006/relationships/image" Target="/ppt/media/image.png" Id="R68aa569757bf4eb3" /><Relationship Type="http://schemas.openxmlformats.org/officeDocument/2006/relationships/notesSlide" Target="/ppt/notesSlides/notesSlide1.xml" Id="Re26b32915e9f4fb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56f13a15014a0f" /><Relationship Type="http://schemas.openxmlformats.org/officeDocument/2006/relationships/image" Target="/ppt/media/image2.png" Id="R540c713ca2d34809" /><Relationship Type="http://schemas.openxmlformats.org/officeDocument/2006/relationships/notesSlide" Target="/ppt/notesSlides/notesSlide2.xml" Id="R8995977be3c345a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289622b827431a" /><Relationship Type="http://schemas.openxmlformats.org/officeDocument/2006/relationships/image" Target="/ppt/media/image3.png" Id="R9d91cec689b64775" /><Relationship Type="http://schemas.openxmlformats.org/officeDocument/2006/relationships/notesSlide" Target="/ppt/notesSlides/notesSlide3.xml" Id="R2a39b3b557384b2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421253f0944ee2" /><Relationship Type="http://schemas.openxmlformats.org/officeDocument/2006/relationships/image" Target="/ppt/media/image4.png" Id="R584c2d91ae4f4369" /><Relationship Type="http://schemas.openxmlformats.org/officeDocument/2006/relationships/notesSlide" Target="/ppt/notesSlides/notesSlide4.xml" Id="Rd5b9524b1ed7482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959c5230e24488" /><Relationship Type="http://schemas.openxmlformats.org/officeDocument/2006/relationships/image" Target="/ppt/media/image5.png" Id="Rf5154ce046754708" /><Relationship Type="http://schemas.openxmlformats.org/officeDocument/2006/relationships/notesSlide" Target="/ppt/notesSlides/notesSlide5.xml" Id="R413c849ea9094a9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8a4edd900042a7" /><Relationship Type="http://schemas.openxmlformats.org/officeDocument/2006/relationships/image" Target="/ppt/media/image6.png" Id="R2c280a9240f64d61" /><Relationship Type="http://schemas.openxmlformats.org/officeDocument/2006/relationships/notesSlide" Target="/ppt/notesSlides/notesSlide6.xml" Id="Rb2bc1717a8f745b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9ddb3a23764b53" /><Relationship Type="http://schemas.openxmlformats.org/officeDocument/2006/relationships/image" Target="/ppt/media/image7.png" Id="R9bc85bd3c400465f" /><Relationship Type="http://schemas.openxmlformats.org/officeDocument/2006/relationships/notesSlide" Target="/ppt/notesSlides/notesSlide7.xml" Id="R21627a5af67342a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f8a3c5db7f4309" /><Relationship Type="http://schemas.openxmlformats.org/officeDocument/2006/relationships/image" Target="/ppt/media/image8.png" Id="R1b61545d1caa4ca3" /><Relationship Type="http://schemas.openxmlformats.org/officeDocument/2006/relationships/notesSlide" Target="/ppt/notesSlides/notesSlide8.xml" Id="R96290a9c43e648d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63c8eab96e4d00" /><Relationship Type="http://schemas.openxmlformats.org/officeDocument/2006/relationships/image" Target="/ppt/media/image9.png" Id="R3c5f902a0ce4445f" /><Relationship Type="http://schemas.openxmlformats.org/officeDocument/2006/relationships/notesSlide" Target="/ppt/notesSlides/notesSlide9.xml" Id="R54778218042a462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80e170593346fd" /><Relationship Type="http://schemas.openxmlformats.org/officeDocument/2006/relationships/image" Target="/ppt/media/image10.png" Id="Raea13326239c4080" /><Relationship Type="http://schemas.openxmlformats.org/officeDocument/2006/relationships/notesSlide" Target="/ppt/notesSlides/notesSlide10.xml" Id="R8df35c7f8e4349f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aa569757bf4eb3"/>
          <a:stretch xmlns:a="http://schemas.openxmlformats.org/drawingml/2006/main"/>
        </p:blipFill>
        <p:spPr>
          <a:xfrm xmlns:a="http://schemas.openxmlformats.org/drawingml/2006/main">
            <a:off x="711403" y="571500"/>
            <a:ext cx="748894" cy="5143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5635E7-4946-4EFD-BD1C-8F4766DFC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304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C542"/>
                </a:solidFill>
              </a:defRPr>
            </a:pPr>
            <a:r>
              <a:rPr sz="1200" b="1">
                <a:solidFill>
                  <a:srgbClr val="F4C542"/>
                </a:solidFill>
              </a:rPr>
              <a:t>FINAL PROJECT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C53EC7-8BE2-4403-86EC-051E90962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429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Bong에이전트 MVP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C6364E-5210-48E6-AA75-13E648577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7810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5F0E6"/>
                </a:solidFill>
              </a:defRPr>
            </a:pPr>
            <a:r>
              <a:rPr sz="1875" b="0">
                <a:solidFill>
                  <a:srgbClr val="F5F0E6"/>
                </a:solidFill>
              </a:rPr>
              <a:t>은행 직원의 ToDo, 사내쪽지, 사후고객관리를 한 화면에서 처리하는</a:t>
            </a:r>
          </a:p>
          <a:p xmlns:a="http://schemas.openxmlformats.org/drawingml/2006/main">
            <a:pPr algn="l">
              <a:defRPr sz="1875" b="0">
                <a:solidFill>
                  <a:srgbClr val="F5F0E6"/>
                </a:solidFill>
              </a:defRPr>
            </a:pPr>
            <a:r>
              <a:rPr sz="1875" b="0">
                <a:solidFill>
                  <a:srgbClr val="F5F0E6"/>
                </a:solidFill>
              </a:rPr>
              <a:t>로컬 풀스택 업무 비서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A5BA8A-87E6-4FF1-A5B8-F1CE898C6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57700"/>
            <a:ext cx="9810750" cy="70485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9525">
            <a:solidFill>
              <a:srgbClr val="34302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D36BE1-E347-4D29-B23F-B188EADB6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95825"/>
            <a:ext cx="923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C542"/>
                </a:solidFill>
              </a:defRPr>
            </a:pPr>
            <a:r>
              <a:rPr sz="1650" b="1">
                <a:solidFill>
                  <a:srgbClr val="F4C542"/>
                </a:solidFill>
              </a:rPr>
              <a:t>FastAPI · React/Vite · JSON Repository · Orchestration Agent · LLM Priority Recommendation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31CE0A-EA2F-4281-BAE2-8C944C56D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A095"/>
                </a:solidFill>
              </a:defRPr>
            </a:pPr>
            <a:r>
              <a:rPr sz="975" b="0">
                <a:solidFill>
                  <a:srgbClr val="A8A095"/>
                </a:solidFill>
              </a:rPr>
              <a:t>Bong에이전트 MVP · 최종 발표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C799F3-1FF5-4DE6-8EEA-205D181D4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05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4C542"/>
                </a:solidFill>
              </a:defRPr>
            </a:pPr>
            <a:r>
              <a:rPr sz="1200" b="1">
                <a:solidFill>
                  <a:srgbClr val="F4C542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323513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0c713ca2d34809"/>
          <a:stretch xmlns:a="http://schemas.openxmlformats.org/drawingml/2006/main"/>
        </p:blipFill>
        <p:spPr>
          <a:xfrm xmlns:a="http://schemas.openxmlformats.org/drawingml/2006/main">
            <a:off x="10617403" y="514350"/>
            <a:ext cx="748894" cy="5143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258DD5-D79F-44DC-B86E-512F9FE1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C542"/>
                </a:solidFill>
              </a:defRPr>
            </a:pPr>
            <a:r>
              <a:rPr sz="1200" b="1">
                <a:solidFill>
                  <a:srgbClr val="F4C542"/>
                </a:solidFill>
              </a:rPr>
              <a:t>01  목적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AE48E6-C3B8-4602-8F98-C72C1B2E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838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흩어진 업무 신호를 하나의 실행 화면으로 통합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8C3D9A-7420-4576-A2C5-33DF17BA7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52625"/>
            <a:ext cx="98107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9525">
            <a:solidFill>
              <a:srgbClr val="34302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EDEB2D-7725-4495-82B6-C5779A217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62175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C542"/>
                </a:solidFill>
              </a:defRPr>
            </a:pPr>
            <a:r>
              <a:rPr sz="1800" b="1">
                <a:solidFill>
                  <a:srgbClr val="F4C542"/>
                </a:solidFill>
              </a:rPr>
              <a:t>문제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6F7D36-0760-464A-8B4A-17E87FC9E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143125"/>
            <a:ext cx="742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5F0E6"/>
                </a:solidFill>
              </a:defRPr>
            </a:pPr>
            <a:r>
              <a:rPr sz="1575" b="0">
                <a:solidFill>
                  <a:srgbClr val="F5F0E6"/>
                </a:solidFill>
              </a:rPr>
              <a:t>ToDo, 사내쪽지, 사후고객관리 정보가 분리되어 우선순위 판단과 실행 전환이 늦어짐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C598DC-9F71-4B50-BF5A-38B41CB5C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14675"/>
            <a:ext cx="98107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9525">
            <a:solidFill>
              <a:srgbClr val="34302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13CB2B-0F9C-4845-BE7C-5AE929592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24225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C542"/>
                </a:solidFill>
              </a:defRPr>
            </a:pPr>
            <a:r>
              <a:rPr sz="1800" b="1">
                <a:solidFill>
                  <a:srgbClr val="F4C542"/>
                </a:solidFill>
              </a:rPr>
              <a:t>목표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42311F-4D17-48DB-B577-F6B4268FF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305175"/>
            <a:ext cx="742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5F0E6"/>
                </a:solidFill>
              </a:defRPr>
            </a:pPr>
            <a:r>
              <a:rPr sz="1575" b="0">
                <a:solidFill>
                  <a:srgbClr val="F5F0E6"/>
                </a:solidFill>
              </a:rPr>
              <a:t>오늘 업무를 Kanban으로 보고, 쪽지와 고객 이슈를 즉시 ToDo로 전환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D73A75-2D86-4FBA-A178-D5F5C1E19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76725"/>
            <a:ext cx="9810750" cy="876300"/>
          </a:xfrm>
          <a:prstGeom xmlns:a="http://schemas.openxmlformats.org/drawingml/2006/main" prst="roundRect">
            <a:avLst>
              <a:gd name="adj" fmla="val 6522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9525">
            <a:solidFill>
              <a:srgbClr val="34302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DB3C8B-4A54-481A-ACEB-36F4F8AB1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86275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C542"/>
                </a:solidFill>
              </a:defRPr>
            </a:pPr>
            <a:r>
              <a:rPr sz="1800" b="1">
                <a:solidFill>
                  <a:srgbClr val="F4C542"/>
                </a:solidFill>
              </a:rPr>
              <a:t>차별점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E069DC-F047-4DA2-8309-A2EC157D8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4467225"/>
            <a:ext cx="742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5F0E6"/>
                </a:solidFill>
              </a:defRPr>
            </a:pPr>
            <a:r>
              <a:rPr sz="1575" b="0">
                <a:solidFill>
                  <a:srgbClr val="F5F0E6"/>
                </a:solidFill>
              </a:rPr>
              <a:t>자연어 명령과 agent orchestration으로 CRUD와 일반 LLM 질문을 같은 채팅창에서 처리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EF941D-0E76-42C7-B883-998C5E132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A095"/>
                </a:solidFill>
              </a:defRPr>
            </a:pPr>
            <a:r>
              <a:rPr sz="975" b="0">
                <a:solidFill>
                  <a:srgbClr val="A8A095"/>
                </a:solidFill>
              </a:rPr>
              <a:t>Bong에이전트 MVP · 최종 발표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87DBE1-D264-4882-A9A9-B947E06AA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05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4C542"/>
                </a:solidFill>
              </a:defRPr>
            </a:pPr>
            <a:r>
              <a:rPr sz="1200" b="1">
                <a:solidFill>
                  <a:srgbClr val="F4C542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399375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91cec689b64775"/>
          <a:stretch xmlns:a="http://schemas.openxmlformats.org/drawingml/2006/main"/>
        </p:blipFill>
        <p:spPr>
          <a:xfrm xmlns:a="http://schemas.openxmlformats.org/drawingml/2006/main">
            <a:off x="10617403" y="514350"/>
            <a:ext cx="748894" cy="5143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E82D35-F4A7-4D0E-8AB6-FF30E9032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C542"/>
                </a:solidFill>
              </a:defRPr>
            </a:pPr>
            <a:r>
              <a:rPr sz="1200" b="1">
                <a:solidFill>
                  <a:srgbClr val="F4C542"/>
                </a:solidFill>
              </a:rPr>
              <a:t>02  구현 경과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5635B5-B58B-4A14-A84E-60D95816C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단일 MVP에서 agent API까지 단계적으로 확장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5E0CDE-8093-4512-AF36-CC476C464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9800"/>
            <a:ext cx="1790700" cy="2171700"/>
          </a:xfrm>
          <a:prstGeom xmlns:a="http://schemas.openxmlformats.org/drawingml/2006/main" prst="roundRect">
            <a:avLst>
              <a:gd name="adj" fmla="val 3191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9525">
            <a:solidFill>
              <a:srgbClr val="34302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0899CA-5C65-46A5-9A30-B84B300CE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00300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C542"/>
                </a:solidFill>
              </a:defRPr>
            </a:pPr>
            <a:r>
              <a:rPr sz="2250" b="1">
                <a:solidFill>
                  <a:srgbClr val="F4C542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1C47C7-57EB-4837-A2D1-A492EB65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7180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MVP 대시보드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B1703C-9A08-4360-BC6E-A2D616C7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95700"/>
            <a:ext cx="1428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A095"/>
                </a:solidFill>
              </a:defRPr>
            </a:pPr>
            <a:r>
              <a:rPr sz="1275" b="0">
                <a:solidFill>
                  <a:srgbClr val="A8A095"/>
                </a:solidFill>
              </a:rPr>
              <a:t>Kanban, 사내쪽지, 고객관리, 채팅 패널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F89782-BCE3-4223-886A-1D8912FBB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209800"/>
            <a:ext cx="1790700" cy="2171700"/>
          </a:xfrm>
          <a:prstGeom xmlns:a="http://schemas.openxmlformats.org/drawingml/2006/main" prst="roundRect">
            <a:avLst>
              <a:gd name="adj" fmla="val 3191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9525">
            <a:solidFill>
              <a:srgbClr val="34302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32E1AB-01C5-4649-95D5-A102FDF95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400300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C542"/>
                </a:solidFill>
              </a:defRPr>
            </a:pPr>
            <a:r>
              <a:rPr sz="2250" b="1">
                <a:solidFill>
                  <a:srgbClr val="F4C542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77F2F5-CECF-4325-83EE-51D25AD1D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297180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데이터 연동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860584-EE5D-4FC8-997C-09422F40D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3695700"/>
            <a:ext cx="1428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A095"/>
                </a:solidFill>
              </a:defRPr>
            </a:pPr>
            <a:r>
              <a:rPr sz="1275" b="0">
                <a:solidFill>
                  <a:srgbClr val="A8A095"/>
                </a:solidFill>
              </a:rPr>
              <a:t>쪽지·고객·ToDo JSON CRUD와 히스토리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ACB506-AF5D-444B-8727-44C13FCD2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09800"/>
            <a:ext cx="1790700" cy="2171700"/>
          </a:xfrm>
          <a:prstGeom xmlns:a="http://schemas.openxmlformats.org/drawingml/2006/main" prst="roundRect">
            <a:avLst>
              <a:gd name="adj" fmla="val 3191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9525">
            <a:solidFill>
              <a:srgbClr val="34302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A6B052-98AF-4B68-8308-CF699538E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C542"/>
                </a:solidFill>
              </a:defRPr>
            </a:pPr>
            <a:r>
              <a:rPr sz="2250" b="1">
                <a:solidFill>
                  <a:srgbClr val="F4C542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53626F-3540-4D1E-8735-7723719C0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97180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Agent 분리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2C6EC1-BF97-4E6E-B565-5D951175E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695700"/>
            <a:ext cx="1428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A095"/>
                </a:solidFill>
              </a:defRPr>
            </a:pPr>
            <a:r>
              <a:rPr sz="1275" b="0">
                <a:solidFill>
                  <a:srgbClr val="A8A095"/>
                </a:solidFill>
              </a:rPr>
              <a:t>orchestrator와 4개 sub-agent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CBEE4A-2381-44A9-B890-63ACB9020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09800"/>
            <a:ext cx="1790700" cy="2171700"/>
          </a:xfrm>
          <a:prstGeom xmlns:a="http://schemas.openxmlformats.org/drawingml/2006/main" prst="roundRect">
            <a:avLst>
              <a:gd name="adj" fmla="val 3191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9525">
            <a:solidFill>
              <a:srgbClr val="34302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9FB78D-30CD-41A2-91ED-0FEE87E1E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400300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C542"/>
                </a:solidFill>
              </a:defRPr>
            </a:pPr>
            <a:r>
              <a:rPr sz="2250" b="1">
                <a:solidFill>
                  <a:srgbClr val="F4C542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6DB73A-8A41-4562-8B3E-0E670B1FB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97180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LLM 추천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48F9F4-A5AD-4F12-BA69-A81C63B11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695700"/>
            <a:ext cx="1428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A095"/>
                </a:solidFill>
              </a:defRPr>
            </a:pPr>
            <a:r>
              <a:rPr sz="1275" b="0">
                <a:solidFill>
                  <a:srgbClr val="A8A095"/>
                </a:solidFill>
              </a:rPr>
              <a:t>사내쪽지 우선순위 추천 sub-agent와 fallback 규칙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F9DEF9-40CC-4911-9BD8-FF62356B8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209800"/>
            <a:ext cx="1790700" cy="2171700"/>
          </a:xfrm>
          <a:prstGeom xmlns:a="http://schemas.openxmlformats.org/drawingml/2006/main" prst="roundRect">
            <a:avLst>
              <a:gd name="adj" fmla="val 3191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9525">
            <a:solidFill>
              <a:srgbClr val="34302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D6AF06-2E57-4CD4-AA56-E30F03A39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00300"/>
            <a:ext cx="419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4C542"/>
                </a:solidFill>
              </a:defRPr>
            </a:pPr>
            <a:r>
              <a:rPr sz="2250" b="1">
                <a:solidFill>
                  <a:srgbClr val="F4C542"/>
                </a:solidFill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A017DB-DB03-42CB-8CCD-1BC9C5380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71800"/>
            <a:ext cx="142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API UI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A54B3B-2A95-4C51-927A-50EEB4023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95700"/>
            <a:ext cx="1428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A095"/>
                </a:solidFill>
              </a:defRPr>
            </a:pPr>
            <a:r>
              <a:rPr sz="1275" b="0">
                <a:solidFill>
                  <a:srgbClr val="A8A095"/>
                </a:solidFill>
              </a:rPr>
              <a:t>설정 팝업에서 agent endpoint 호출과 URL 복사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3FA3917-5BA7-4199-A5BB-7B7EFD61D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A095"/>
                </a:solidFill>
              </a:defRPr>
            </a:pPr>
            <a:r>
              <a:rPr sz="975" b="0">
                <a:solidFill>
                  <a:srgbClr val="A8A095"/>
                </a:solidFill>
              </a:rPr>
              <a:t>Bong에이전트 MVP · 최종 발표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4ECBB9-284E-423D-A262-972DE3105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05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4C542"/>
                </a:solidFill>
              </a:defRPr>
            </a:pPr>
            <a:r>
              <a:rPr sz="1200" b="1">
                <a:solidFill>
                  <a:srgbClr val="F4C542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392919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4c2d91ae4f4369"/>
          <a:stretch xmlns:a="http://schemas.openxmlformats.org/drawingml/2006/main"/>
        </p:blipFill>
        <p:spPr>
          <a:xfrm xmlns:a="http://schemas.openxmlformats.org/drawingml/2006/main">
            <a:off x="10617403" y="514350"/>
            <a:ext cx="748894" cy="5143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44D8E1-DD88-474D-AB5D-FD6B45115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C542"/>
                </a:solidFill>
              </a:defRPr>
            </a:pPr>
            <a:r>
              <a:rPr sz="1200" b="1">
                <a:solidFill>
                  <a:srgbClr val="F4C542"/>
                </a:solidFill>
              </a:rPr>
              <a:t>03  전체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73C97E-DBE4-4067-A64A-28189E228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876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프론트엔드, API, Agent, Repository를 명확히 분리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A9335D-7201-4081-805C-EC12E4530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47875"/>
            <a:ext cx="2362200" cy="2476500"/>
          </a:xfrm>
          <a:prstGeom xmlns:a="http://schemas.openxmlformats.org/drawingml/2006/main" prst="roundRect">
            <a:avLst>
              <a:gd name="adj" fmla="val 2419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9525">
            <a:solidFill>
              <a:srgbClr val="34302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3D4267-EE2B-4EE4-B331-0228FF2EB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C542"/>
                </a:solidFill>
              </a:defRPr>
            </a:pPr>
            <a:r>
              <a:rPr sz="1800" b="1">
                <a:solidFill>
                  <a:srgbClr val="F4C542"/>
                </a:solidFill>
              </a:rPr>
              <a:t>React/Vite UI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D8FAC7-E24A-4C0D-A826-EAEA3FA58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190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App.jsx</a:t>
            </a:r>
          </a:p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api.js</a:t>
            </a:r>
          </a:p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styles.css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7742B5-8DE8-4F70-B7AE-8248BD826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33800"/>
            <a:ext cx="190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A095"/>
                </a:solidFill>
              </a:defRPr>
            </a:pPr>
            <a:r>
              <a:rPr sz="1275" b="0">
                <a:solidFill>
                  <a:srgbClr val="A8A095"/>
                </a:solidFill>
              </a:rPr>
              <a:t>대시보드, 모달, 채팅, 설정 API 팝업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6C4ED5-A2F0-4C25-B125-3C8B5D75A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47875"/>
            <a:ext cx="2362200" cy="2476500"/>
          </a:xfrm>
          <a:prstGeom xmlns:a="http://schemas.openxmlformats.org/drawingml/2006/main" prst="roundRect">
            <a:avLst>
              <a:gd name="adj" fmla="val 2419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9525">
            <a:solidFill>
              <a:srgbClr val="34302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E46AAC-942D-4D01-B7D3-06129A44C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2669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C542"/>
                </a:solidFill>
              </a:defRPr>
            </a:pPr>
            <a:r>
              <a:rPr sz="1800" b="1">
                <a:solidFill>
                  <a:srgbClr val="F4C542"/>
                </a:solidFill>
              </a:rPr>
              <a:t>FastAPI Router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59455C-61CB-4347-B74B-752E9B951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781300"/>
            <a:ext cx="190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main.py</a:t>
            </a:r>
          </a:p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models.py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916869-D6DE-403D-A0E8-81D07A6DD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733800"/>
            <a:ext cx="190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A095"/>
                </a:solidFill>
              </a:defRPr>
            </a:pPr>
            <a:r>
              <a:rPr sz="1275" b="0">
                <a:solidFill>
                  <a:srgbClr val="A8A095"/>
                </a:solidFill>
              </a:rPr>
              <a:t>REST API와 agent 직접 호출 endpoint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CC3539-949D-4833-8DA4-FC2692EBD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047875"/>
            <a:ext cx="2362200" cy="2476500"/>
          </a:xfrm>
          <a:prstGeom xmlns:a="http://schemas.openxmlformats.org/drawingml/2006/main" prst="roundRect">
            <a:avLst>
              <a:gd name="adj" fmla="val 2419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9525">
            <a:solidFill>
              <a:srgbClr val="34302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F4CB8F-D9C8-4509-AF9E-12D0000F1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669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C542"/>
                </a:solidFill>
              </a:defRPr>
            </a:pPr>
            <a:r>
              <a:rPr sz="1800" b="1">
                <a:solidFill>
                  <a:srgbClr val="F4C542"/>
                </a:solidFill>
              </a:rPr>
              <a:t>Agent Layer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AD3781-8A5D-4D8D-AAD4-FDFCE99D7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81300"/>
            <a:ext cx="190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orchestrator.py</a:t>
            </a:r>
          </a:p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message/customer/todo/llm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23F56B-AB5F-4D78-B9E3-468A2117B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733800"/>
            <a:ext cx="190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A095"/>
                </a:solidFill>
              </a:defRPr>
            </a:pPr>
            <a:r>
              <a:rPr sz="1275" b="0">
                <a:solidFill>
                  <a:srgbClr val="A8A095"/>
                </a:solidFill>
              </a:rPr>
              <a:t>도메인별 can_handle → handle 위임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3AA3B5-B8A8-4225-A941-3558A6063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047875"/>
            <a:ext cx="2362200" cy="2476500"/>
          </a:xfrm>
          <a:prstGeom xmlns:a="http://schemas.openxmlformats.org/drawingml/2006/main" prst="roundRect">
            <a:avLst>
              <a:gd name="adj" fmla="val 2419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9525">
            <a:solidFill>
              <a:srgbClr val="34302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F9694E-0E82-47D5-B818-48DC29F0D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26695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4C542"/>
                </a:solidFill>
              </a:defRPr>
            </a:pPr>
            <a:r>
              <a:rPr sz="1800" b="1">
                <a:solidFill>
                  <a:srgbClr val="F4C542"/>
                </a:solidFill>
              </a:rPr>
              <a:t>JSON Storage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FFD976-34DA-45F5-9BBD-0BDDBA748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781300"/>
            <a:ext cx="1905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repository.py</a:t>
            </a:r>
          </a:p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data/*.json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9C01E83-8C2C-4695-95DD-F43B493A1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733800"/>
            <a:ext cx="1905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A095"/>
                </a:solidFill>
              </a:defRPr>
            </a:pPr>
            <a:r>
              <a:rPr sz="1275" b="0">
                <a:solidFill>
                  <a:srgbClr val="A8A095"/>
                </a:solidFill>
              </a:rPr>
              <a:t>CRUD, undo/redo, 원천 연결 관리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902DAA-AE97-4E4E-9ABC-F185AFDEC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625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5F0E6"/>
                </a:solidFill>
              </a:defRPr>
            </a:pPr>
            <a:r>
              <a:rPr sz="1650" b="1">
                <a:solidFill>
                  <a:srgbClr val="F5F0E6"/>
                </a:solidFill>
              </a:rPr>
              <a:t>사용자 입력 → /api/assistant/command → RuleBasedAssistantAgent → 선택된 sub-agent → JSON 저장소 → UI 갱신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669711-DF03-4043-87FA-5941C519E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A095"/>
                </a:solidFill>
              </a:defRPr>
            </a:pPr>
            <a:r>
              <a:rPr sz="975" b="0">
                <a:solidFill>
                  <a:srgbClr val="A8A095"/>
                </a:solidFill>
              </a:rPr>
              <a:t>Bong에이전트 MVP · 최종 발표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4203CA-714E-4DD7-8911-9F5FD4EDD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05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4C542"/>
                </a:solidFill>
              </a:defRPr>
            </a:pPr>
            <a:r>
              <a:rPr sz="1200" b="1">
                <a:solidFill>
                  <a:srgbClr val="F4C542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001989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154ce046754708"/>
          <a:stretch xmlns:a="http://schemas.openxmlformats.org/drawingml/2006/main"/>
        </p:blipFill>
        <p:spPr>
          <a:xfrm xmlns:a="http://schemas.openxmlformats.org/drawingml/2006/main">
            <a:off x="10617403" y="514350"/>
            <a:ext cx="748894" cy="5143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798957-4B4F-4B5A-B4AF-CB13C5612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C542"/>
                </a:solidFill>
              </a:defRPr>
            </a:pPr>
            <a:r>
              <a:rPr sz="1200" b="1">
                <a:solidFill>
                  <a:srgbClr val="F4C542"/>
                </a:solidFill>
              </a:rPr>
              <a:t>04  핵심 기능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7D3CAD-3366-47C7-8D70-81E1DBDE3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업무 실행 화면과 자연어 agent가 하나의 흐름으로 연결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07CE40-9DAF-4895-8361-B7F82288A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85950"/>
            <a:ext cx="8858250" cy="6286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9525">
            <a:solidFill>
              <a:srgbClr val="34302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AD5BC9-86CA-43C7-9BBC-CE18CB598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574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C542"/>
                </a:solidFill>
              </a:defRPr>
            </a:pPr>
            <a:r>
              <a:rPr sz="1725" b="1">
                <a:solidFill>
                  <a:srgbClr val="F4C542"/>
                </a:solidFill>
              </a:rPr>
              <a:t>Kanban 업무판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44FAC3-5EB9-4F37-9F16-1CAA26A97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574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0E6"/>
                </a:solidFill>
              </a:defRPr>
            </a:pPr>
            <a:r>
              <a:rPr sz="1500" b="0">
                <a:solidFill>
                  <a:srgbClr val="F5F0E6"/>
                </a:solidFill>
              </a:rPr>
              <a:t>할일/진행중/완료 상태, Drag &amp; Drop, 우선순위 표시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48D68AF-1BB2-4450-8D70-C3CC1D0CB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81300"/>
            <a:ext cx="8858250" cy="6286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9525">
            <a:solidFill>
              <a:srgbClr val="34302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56626D-B457-46F1-AA40-EBC9721C6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9527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C542"/>
                </a:solidFill>
              </a:defRPr>
            </a:pPr>
            <a:r>
              <a:rPr sz="1725" b="1">
                <a:solidFill>
                  <a:srgbClr val="F4C542"/>
                </a:solidFill>
              </a:rPr>
              <a:t>사내쪽지·고객관리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8B3BD0-32D6-4577-AEAE-B0C652556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9527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0E6"/>
                </a:solidFill>
              </a:defRPr>
            </a:pPr>
            <a:r>
              <a:rPr sz="1500" b="0">
                <a:solidFill>
                  <a:srgbClr val="F5F0E6"/>
                </a:solidFill>
              </a:rPr>
              <a:t>좌측 메뉴 팝업에서 등록/삭제, 대시보드 우선순위 패널과 데이터 연동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C9A317-FC4D-4487-AB95-08CE3B48B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76650"/>
            <a:ext cx="8858250" cy="6286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9525">
            <a:solidFill>
              <a:srgbClr val="34302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0D5719-4643-44A6-BBE0-E7718315E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84810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C542"/>
                </a:solidFill>
              </a:defRPr>
            </a:pPr>
            <a:r>
              <a:rPr sz="1725" b="1">
                <a:solidFill>
                  <a:srgbClr val="F4C542"/>
                </a:solidFill>
              </a:rPr>
              <a:t>자연어 명령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F3236B-D30D-4CC7-92BC-F458370A6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8481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0E6"/>
                </a:solidFill>
              </a:defRPr>
            </a:pPr>
            <a:r>
              <a:rPr sz="1500" b="0">
                <a:solidFill>
                  <a:srgbClr val="F5F0E6"/>
                </a:solidFill>
              </a:rPr>
              <a:t>ToDo 생성/상태 변경/삭제, 쪽지 우선순위 설정, 일반 LLM 질문 fallback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D654E7-D8DB-4816-9475-7D60430DE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572000"/>
            <a:ext cx="8858250" cy="6286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9525">
            <a:solidFill>
              <a:srgbClr val="34302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7F53EB-C64C-460F-AEF5-405EEF061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7434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C542"/>
                </a:solidFill>
              </a:defRPr>
            </a:pPr>
            <a:r>
              <a:rPr sz="1725" b="1">
                <a:solidFill>
                  <a:srgbClr val="F4C542"/>
                </a:solidFill>
              </a:rPr>
              <a:t>Agent API UI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D684A3-D42F-4C17-80A0-567D94A42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7434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5F0E6"/>
                </a:solidFill>
              </a:defRPr>
            </a:pPr>
            <a:r>
              <a:rPr sz="1500" b="0">
                <a:solidFill>
                  <a:srgbClr val="F5F0E6"/>
                </a:solidFill>
              </a:rPr>
              <a:t>설정 메뉴에서 sub-agent endpoint 확인, 직접 호출, 전체 URL 복사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8729D2-5BAA-4D56-83B2-2AA430669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A095"/>
                </a:solidFill>
              </a:defRPr>
            </a:pPr>
            <a:r>
              <a:rPr sz="975" b="0">
                <a:solidFill>
                  <a:srgbClr val="A8A095"/>
                </a:solidFill>
              </a:rPr>
              <a:t>Bong에이전트 MVP · 최종 발표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10F1A2-1C56-47FC-9537-D170D0655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05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4C542"/>
                </a:solidFill>
              </a:defRPr>
            </a:pPr>
            <a:r>
              <a:rPr sz="1200" b="1">
                <a:solidFill>
                  <a:srgbClr val="F4C542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225402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280a9240f64d61"/>
          <a:stretch xmlns:a="http://schemas.openxmlformats.org/drawingml/2006/main"/>
        </p:blipFill>
        <p:spPr>
          <a:xfrm xmlns:a="http://schemas.openxmlformats.org/drawingml/2006/main">
            <a:off x="10617403" y="514350"/>
            <a:ext cx="748894" cy="5143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0AE8BC-8C56-41D8-B246-9124B557E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C542"/>
                </a:solidFill>
              </a:defRPr>
            </a:pPr>
            <a:r>
              <a:rPr sz="1200" b="1">
                <a:solidFill>
                  <a:srgbClr val="F4C542"/>
                </a:solidFill>
              </a:rPr>
              <a:t>05  중요 소스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CB0F94-06E7-432C-AA7F-62E231AB1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781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발표에서 강조할 핵심 구현 파일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3DAD64-AB99-4E76-9D28-30638D9E6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526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C542"/>
                </a:solidFill>
              </a:defRPr>
            </a:pPr>
            <a:r>
              <a:rPr sz="1500" b="1">
                <a:solidFill>
                  <a:srgbClr val="F4C542"/>
                </a:solidFill>
              </a:rPr>
              <a:t>backend/app/agents/orchestrator.py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D717A0-07AC-4EAE-8C7B-C5FE2523A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7526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0E6"/>
                </a:solidFill>
              </a:defRPr>
            </a:pPr>
            <a:r>
              <a:rPr sz="1425" b="0">
                <a:solidFill>
                  <a:srgbClr val="F5F0E6"/>
                </a:solidFill>
              </a:rPr>
              <a:t>입력 의도를 판단하고 message → customer → todo → llm 순서로 위임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417CAC-AAF2-4059-ADEB-9E4504006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812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C542"/>
                </a:solidFill>
              </a:defRPr>
            </a:pPr>
            <a:r>
              <a:rPr sz="1500" b="1">
                <a:solidFill>
                  <a:srgbClr val="F4C542"/>
                </a:solidFill>
              </a:rPr>
              <a:t>backend/app/agents/message_agent.py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300AC0-E0EF-4511-AE14-F128F0A6B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3812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0E6"/>
                </a:solidFill>
              </a:defRPr>
            </a:pPr>
            <a:r>
              <a:rPr sz="1425" b="0">
                <a:solidFill>
                  <a:srgbClr val="F5F0E6"/>
                </a:solidFill>
              </a:rPr>
              <a:t>쪽지 CRUD와 LLM 기반 우선순위 추천 sub-agent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5CA348-BE57-4DBF-AE9D-23BA4FAA9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C542"/>
                </a:solidFill>
              </a:defRPr>
            </a:pPr>
            <a:r>
              <a:rPr sz="1500" b="1">
                <a:solidFill>
                  <a:srgbClr val="F4C542"/>
                </a:solidFill>
              </a:rPr>
              <a:t>backend/app/repository.py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B51B38-875F-401E-9519-9BC5D1639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0099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0E6"/>
                </a:solidFill>
              </a:defRPr>
            </a:pPr>
            <a:r>
              <a:rPr sz="1425" b="0">
                <a:solidFill>
                  <a:srgbClr val="F5F0E6"/>
                </a:solidFill>
              </a:rPr>
              <a:t>JSON CRUD, 연결 데이터 정리, undo/redo 히스토리 책임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751050-8EF4-4001-91A1-E633AF3FA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385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C542"/>
                </a:solidFill>
              </a:defRPr>
            </a:pPr>
            <a:r>
              <a:rPr sz="1500" b="1">
                <a:solidFill>
                  <a:srgbClr val="F4C542"/>
                </a:solidFill>
              </a:rPr>
              <a:t>backend/app/main.py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B26D86-4B48-47D3-B765-1F2A4111B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6385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0E6"/>
                </a:solidFill>
              </a:defRPr>
            </a:pPr>
            <a:r>
              <a:rPr sz="1425" b="0">
                <a:solidFill>
                  <a:srgbClr val="F5F0E6"/>
                </a:solidFill>
              </a:rPr>
              <a:t>REST API, agent 직접 호출 API, 설정 팝업 metadata 제공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2E3172-AF37-4B31-991F-87767D8B0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C542"/>
                </a:solidFill>
              </a:defRPr>
            </a:pPr>
            <a:r>
              <a:rPr sz="1500" b="1">
                <a:solidFill>
                  <a:srgbClr val="F4C542"/>
                </a:solidFill>
              </a:rPr>
              <a:t>frontend/src/App.jsx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ED11F3-ABBF-4C3B-9B4E-78F86D583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2672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0E6"/>
                </a:solidFill>
              </a:defRPr>
            </a:pPr>
            <a:r>
              <a:rPr sz="1425" b="0">
                <a:solidFill>
                  <a:srgbClr val="F5F0E6"/>
                </a:solidFill>
              </a:rPr>
              <a:t>대시보드 상태, 모달, 채팅, agent API UI 조율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59C392-8628-47FC-966A-041C2F13E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9585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4C542"/>
                </a:solidFill>
              </a:defRPr>
            </a:pPr>
            <a:r>
              <a:rPr sz="1500" b="1">
                <a:solidFill>
                  <a:srgbClr val="F4C542"/>
                </a:solidFill>
              </a:rPr>
              <a:t>frontend/src/api.js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1FC32B-65ED-4A60-9155-ACE0E7066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89585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0E6"/>
                </a:solidFill>
              </a:defRPr>
            </a:pPr>
            <a:r>
              <a:rPr sz="1425" b="0">
                <a:solidFill>
                  <a:srgbClr val="F5F0E6"/>
                </a:solidFill>
              </a:rPr>
              <a:t>VITE_API_BASE_URL 기반 API client와 전체 endpoint 호출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77EBFA-934C-49E2-916E-FACFC034D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A095"/>
                </a:solidFill>
              </a:defRPr>
            </a:pPr>
            <a:r>
              <a:rPr sz="975" b="0">
                <a:solidFill>
                  <a:srgbClr val="A8A095"/>
                </a:solidFill>
              </a:rPr>
              <a:t>Bong에이전트 MVP · 최종 발표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9CBA8E-2EFF-4D70-ABC4-DC6AB53C5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05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4C542"/>
                </a:solidFill>
              </a:defRPr>
            </a:pPr>
            <a:r>
              <a:rPr sz="1200" b="1">
                <a:solidFill>
                  <a:srgbClr val="F4C542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3876163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c85bd3c400465f"/>
          <a:stretch xmlns:a="http://schemas.openxmlformats.org/drawingml/2006/main"/>
        </p:blipFill>
        <p:spPr>
          <a:xfrm xmlns:a="http://schemas.openxmlformats.org/drawingml/2006/main">
            <a:off x="10617403" y="514350"/>
            <a:ext cx="748894" cy="5143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16B90E-10B5-4A2F-B84E-E885DEA91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C542"/>
                </a:solidFill>
              </a:defRPr>
            </a:pPr>
            <a:r>
              <a:rPr sz="1200" b="1">
                <a:solidFill>
                  <a:srgbClr val="F4C542"/>
                </a:solidFill>
              </a:rPr>
              <a:t>06  Agent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F2644E-699B-4D80-ABE1-1A6EEBD14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809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Orchestration + 도메인 sub-agent 구조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7539A2-7A48-46FE-B98F-AB5B371FE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979170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9525">
            <a:solidFill>
              <a:srgbClr val="34302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6E64AFB-DA6F-4A93-BD99-CCD7EB9DC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193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4C542"/>
                </a:solidFill>
              </a:defRPr>
            </a:pPr>
            <a:r>
              <a:rPr sz="2100" b="1">
                <a:solidFill>
                  <a:srgbClr val="F4C542"/>
                </a:solidFill>
              </a:rPr>
              <a:t>RuleBasedAssistantAgent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443040-28EC-48E3-8842-6F979508F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57400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5F0E6"/>
                </a:solidFill>
              </a:defRPr>
            </a:pPr>
            <a:r>
              <a:rPr sz="1575" b="0">
                <a:solidFill>
                  <a:srgbClr val="F5F0E6"/>
                </a:solidFill>
              </a:rPr>
              <a:t>도메인 agent를 순서대로 검사하고, 처리 가능한 첫 agent에 위임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55250C-8181-4C95-BA5C-9F0A37BB5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62300"/>
            <a:ext cx="215265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9525">
            <a:solidFill>
              <a:srgbClr val="34302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D3C617-6DED-41D6-BFC6-24D7013F8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Message Agent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E85509-8671-413F-879F-AAE113708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29050"/>
            <a:ext cx="1762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A095"/>
                </a:solidFill>
              </a:defRPr>
            </a:pPr>
            <a:r>
              <a:rPr sz="1350" b="0">
                <a:solidFill>
                  <a:srgbClr val="A8A095"/>
                </a:solidFill>
              </a:rPr>
              <a:t>쪽지 조회/등록/삭제</a:t>
            </a:r>
          </a:p>
          <a:p xmlns:a="http://schemas.openxmlformats.org/drawingml/2006/main">
            <a:pPr algn="l">
              <a:defRPr sz="1350" b="0">
                <a:solidFill>
                  <a:srgbClr val="A8A095"/>
                </a:solidFill>
              </a:defRPr>
            </a:pPr>
            <a:r>
              <a:rPr sz="1350" b="0">
                <a:solidFill>
                  <a:srgbClr val="A8A095"/>
                </a:solidFill>
              </a:rPr>
              <a:t>우선순위 추천 위임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E4CC05-BC02-4C29-8F60-38E5B11C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3162300"/>
            <a:ext cx="215265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9525">
            <a:solidFill>
              <a:srgbClr val="34302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16BC41-B43C-47C0-BA8F-64E36C3DE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3718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Customer Agent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433DC6-10F7-4213-9F23-AB133F293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829050"/>
            <a:ext cx="1762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A095"/>
                </a:solidFill>
              </a:defRPr>
            </a:pPr>
            <a:r>
              <a:rPr sz="1350" b="0">
                <a:solidFill>
                  <a:srgbClr val="A8A095"/>
                </a:solidFill>
              </a:rPr>
              <a:t>사후고객 조회/등록/삭제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0419B9-2EB2-4E98-AEF4-927EC1A1C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162300"/>
            <a:ext cx="215265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9525">
            <a:solidFill>
              <a:srgbClr val="34302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0562A0-9162-4EFF-BDB3-2D9C1FC2A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3718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Todo Agent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0A6D46-179D-4D22-89C6-FAD6BF2D6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829050"/>
            <a:ext cx="1762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A095"/>
                </a:solidFill>
              </a:defRPr>
            </a:pPr>
            <a:r>
              <a:rPr sz="1350" b="0">
                <a:solidFill>
                  <a:srgbClr val="A8A095"/>
                </a:solidFill>
              </a:rPr>
              <a:t>할일 생성/수정/삭제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F1046B-2A03-4692-B9EA-5466E83F5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162300"/>
            <a:ext cx="2152650" cy="14287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9525">
            <a:solidFill>
              <a:srgbClr val="34302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F0065B-74FC-43ED-A379-81C67E7B0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718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LLM Agent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C9A78A-BFD4-4897-B885-68A0AFDD3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829050"/>
            <a:ext cx="17621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A095"/>
                </a:solidFill>
              </a:defRPr>
            </a:pPr>
            <a:r>
              <a:rPr sz="1350" b="0">
                <a:solidFill>
                  <a:srgbClr val="A8A095"/>
                </a:solidFill>
              </a:rPr>
              <a:t>업무 명령 외 일반 질문 fallback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EFE13F9-49E4-4B1A-A6C6-72AA54821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21970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5F0E6"/>
                </a:solidFill>
              </a:defRPr>
            </a:pPr>
            <a:r>
              <a:rPr sz="1650" b="1">
                <a:solidFill>
                  <a:srgbClr val="F5F0E6"/>
                </a:solidFill>
              </a:rPr>
              <a:t>설계 포인트: 명령 분류 로직을 한 파일에 몰지 않고 도메인별 책임으로 분리해 확장성을 확보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178B0C-9966-47B1-9966-CB1C94F67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A095"/>
                </a:solidFill>
              </a:defRPr>
            </a:pPr>
            <a:r>
              <a:rPr sz="975" b="0">
                <a:solidFill>
                  <a:srgbClr val="A8A095"/>
                </a:solidFill>
              </a:rPr>
              <a:t>Bong에이전트 MVP · 최종 발표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82C573-2466-4B1C-9E7A-775B06A35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05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4C542"/>
                </a:solidFill>
              </a:defRPr>
            </a:pPr>
            <a:r>
              <a:rPr sz="1200" b="1">
                <a:solidFill>
                  <a:srgbClr val="F4C542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267752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61545d1caa4ca3"/>
          <a:stretch xmlns:a="http://schemas.openxmlformats.org/drawingml/2006/main"/>
        </p:blipFill>
        <p:spPr>
          <a:xfrm xmlns:a="http://schemas.openxmlformats.org/drawingml/2006/main">
            <a:off x="10617403" y="514350"/>
            <a:ext cx="748894" cy="5143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38549F-3F06-46C0-ADAA-2130A0A64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C542"/>
                </a:solidFill>
              </a:defRPr>
            </a:pPr>
            <a:r>
              <a:rPr sz="1200" b="1">
                <a:solidFill>
                  <a:srgbClr val="F4C542"/>
                </a:solidFill>
              </a:rPr>
              <a:t>07  힘든 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D75C85-BB93-416C-B1AD-19585A362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작게 보이지만 실제 구현에서는 경계 설정이 어려웠던 부분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55E44A-C01D-4041-9EA2-5FE91FCED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09750"/>
            <a:ext cx="93345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9525">
            <a:solidFill>
              <a:srgbClr val="34302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6590F2-09A8-43B7-81E9-06255D3F9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812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자연어 명령 분류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46FE2C-7FB8-481D-BAB8-ACFB7DF4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8120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0E6"/>
                </a:solidFill>
              </a:defRPr>
            </a:pPr>
            <a:r>
              <a:rPr sz="1425" b="0">
                <a:solidFill>
                  <a:srgbClr val="F5F0E6"/>
                </a:solidFill>
              </a:rPr>
              <a:t>쪽지/고객/ToDo/일반 질문이 같은 채팅창으로 들어와 라우팅 우선순위가 중요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EB8161-6977-4378-9178-2C443A2D5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43200"/>
            <a:ext cx="93345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9525">
            <a:solidFill>
              <a:srgbClr val="34302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DAC8C4-2BD5-4CEF-B78D-FE59DDFF6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146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로컬 JSON 동기화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C5F21A-253E-4BFA-B3C2-0DD696BA8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1465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0E6"/>
                </a:solidFill>
              </a:defRPr>
            </a:pPr>
            <a:r>
              <a:rPr sz="1425" b="0">
                <a:solidFill>
                  <a:srgbClr val="F5F0E6"/>
                </a:solidFill>
              </a:rPr>
              <a:t>쪽지·고객을 ToDo로 전환하거나 삭제할 때 연결 상태를 함께 정리해야 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30A5D1-6D99-40F7-B6A9-E07584D1B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76650"/>
            <a:ext cx="93345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9525">
            <a:solidFill>
              <a:srgbClr val="BB8D1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1B5353-3996-434D-A5CE-368C6CE3D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8481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C542"/>
                </a:solidFill>
              </a:defRPr>
            </a:pPr>
            <a:r>
              <a:rPr sz="1725" b="1">
                <a:solidFill>
                  <a:srgbClr val="F4C542"/>
                </a:solidFill>
              </a:rPr>
              <a:t>LLM 결과 안정성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A0319D-0E13-4098-B756-48FCB76AE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84810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0E6"/>
                </a:solidFill>
              </a:defRPr>
            </a:pPr>
            <a:r>
              <a:rPr sz="1425" b="0">
                <a:solidFill>
                  <a:srgbClr val="F5F0E6"/>
                </a:solidFill>
              </a:rPr>
              <a:t>우선순위 추천은 JSON 파싱 실패 가능성이 있어 규칙 기반 fallback 필요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27608F-1671-411E-9256-1618C3E37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10100"/>
            <a:ext cx="9334500" cy="6858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9525">
            <a:solidFill>
              <a:srgbClr val="34302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714658-6A56-44D8-9823-FE5779EC2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7815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UI 위치 변경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90FB87-E272-4C32-A269-51A469F56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8155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F0E6"/>
                </a:solidFill>
              </a:defRPr>
            </a:pPr>
            <a:r>
              <a:rPr sz="1425" b="0">
                <a:solidFill>
                  <a:srgbClr val="F5F0E6"/>
                </a:solidFill>
              </a:rPr>
              <a:t>대시보드, 좌측 메뉴 팝업, 설정 API 팝업 간 기능 배치가 반복적으로 조정됨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29344B-641C-4E42-98EA-9E7108954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A095"/>
                </a:solidFill>
              </a:defRPr>
            </a:pPr>
            <a:r>
              <a:rPr sz="975" b="0">
                <a:solidFill>
                  <a:srgbClr val="A8A095"/>
                </a:solidFill>
              </a:rPr>
              <a:t>Bong에이전트 MVP · 최종 발표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13E9C6-5DCB-469F-B2B5-67F852F47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05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4C542"/>
                </a:solidFill>
              </a:defRPr>
            </a:pPr>
            <a:r>
              <a:rPr sz="1200" b="1">
                <a:solidFill>
                  <a:srgbClr val="F4C542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1128150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5f902a0ce4445f"/>
          <a:stretch xmlns:a="http://schemas.openxmlformats.org/drawingml/2006/main"/>
        </p:blipFill>
        <p:spPr>
          <a:xfrm xmlns:a="http://schemas.openxmlformats.org/drawingml/2006/main">
            <a:off x="10617403" y="514350"/>
            <a:ext cx="748894" cy="5143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ADFA43-3B04-4D38-8A47-5F0D3CCC5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C542"/>
                </a:solidFill>
              </a:defRPr>
            </a:pPr>
            <a:r>
              <a:rPr sz="1200" b="1">
                <a:solidFill>
                  <a:srgbClr val="F4C542"/>
                </a:solidFill>
              </a:rPr>
              <a:t>08  향후 일정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74BE70-9DB2-472A-9D68-6F44DEF6B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MVP 이후 실제 업무 도구로 가기 위한 단계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60117D-395D-4F97-B355-369EDFB21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47875"/>
            <a:ext cx="2190750" cy="2381250"/>
          </a:xfrm>
          <a:prstGeom xmlns:a="http://schemas.openxmlformats.org/drawingml/2006/main" prst="roundRect">
            <a:avLst>
              <a:gd name="adj" fmla="val 2609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9525">
            <a:solidFill>
              <a:srgbClr val="34302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61139D-5E63-424F-A157-C04573AD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669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C542"/>
                </a:solidFill>
              </a:defRPr>
            </a:pPr>
            <a:r>
              <a:rPr sz="1650" b="1">
                <a:solidFill>
                  <a:srgbClr val="F4C542"/>
                </a:solidFill>
              </a:rPr>
              <a:t>1주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E1FEEC-66AB-42FA-9FD3-BF49DF527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003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시연 안정화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1455FD-50CB-47C6-A38D-E6DD27411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0995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A095"/>
                </a:solidFill>
              </a:defRPr>
            </a:pPr>
            <a:r>
              <a:rPr sz="1350" b="0">
                <a:solidFill>
                  <a:srgbClr val="A8A095"/>
                </a:solidFill>
              </a:rPr>
              <a:t>샘플 데이터 정리, 발표 시나리오, 오류 메시지 보강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03B7A0-D541-4AB2-AAAA-D969E3550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047875"/>
            <a:ext cx="2190750" cy="2381250"/>
          </a:xfrm>
          <a:prstGeom xmlns:a="http://schemas.openxmlformats.org/drawingml/2006/main" prst="roundRect">
            <a:avLst>
              <a:gd name="adj" fmla="val 2609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9525">
            <a:solidFill>
              <a:srgbClr val="34302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FD3F4B-23E2-41F6-89FE-56CA35764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2669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C542"/>
                </a:solidFill>
              </a:defRPr>
            </a:pPr>
            <a:r>
              <a:rPr sz="1650" b="1">
                <a:solidFill>
                  <a:srgbClr val="F4C542"/>
                </a:solidFill>
              </a:rPr>
              <a:t>2~3주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05662A-4E41-4B0E-9C93-3A35B59FB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8003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Agent 고도화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A56AD3-38D8-48BE-A1D8-4647959DF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40995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A095"/>
                </a:solidFill>
              </a:defRPr>
            </a:pPr>
            <a:r>
              <a:rPr sz="1350" b="0">
                <a:solidFill>
                  <a:srgbClr val="A8A095"/>
                </a:solidFill>
              </a:rPr>
              <a:t>의도 분류 평가셋, LangGraph 검토, streaming 응답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7E51BC-619C-47AD-94AC-48C8D61E4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047875"/>
            <a:ext cx="2190750" cy="2381250"/>
          </a:xfrm>
          <a:prstGeom xmlns:a="http://schemas.openxmlformats.org/drawingml/2006/main" prst="roundRect">
            <a:avLst>
              <a:gd name="adj" fmla="val 2609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9525">
            <a:solidFill>
              <a:srgbClr val="34302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56BDEB-C553-48AA-BCBE-CF49FA505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2669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C542"/>
                </a:solidFill>
              </a:defRPr>
            </a:pPr>
            <a:r>
              <a:rPr sz="1650" b="1">
                <a:solidFill>
                  <a:srgbClr val="F4C542"/>
                </a:solidFill>
              </a:rPr>
              <a:t>4~6주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E59315-9B19-4F4E-AA6B-3DE124BAF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저장소 전환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F5962B-0179-42AD-9E77-A79D3AAEE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40995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A095"/>
                </a:solidFill>
              </a:defRPr>
            </a:pPr>
            <a:r>
              <a:rPr sz="1350" b="0">
                <a:solidFill>
                  <a:srgbClr val="A8A095"/>
                </a:solidFill>
              </a:rPr>
              <a:t>JSON → DB repository, 감사 로그, 검색/필터 확장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EA6FA0-201B-4A2F-802B-87F4A28C9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47875"/>
            <a:ext cx="2190750" cy="2381250"/>
          </a:xfrm>
          <a:prstGeom xmlns:a="http://schemas.openxmlformats.org/drawingml/2006/main" prst="roundRect">
            <a:avLst>
              <a:gd name="adj" fmla="val 2609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9525">
            <a:solidFill>
              <a:srgbClr val="34302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45CB1B-1558-48F1-B31E-93ED3F904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66950"/>
            <a:ext cx="85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C542"/>
                </a:solidFill>
              </a:defRPr>
            </a:pPr>
            <a:r>
              <a:rPr sz="1650" b="1">
                <a:solidFill>
                  <a:srgbClr val="F4C542"/>
                </a:solidFill>
              </a:rPr>
              <a:t>이후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7D581D-DD55-4083-B937-08D4CCBF9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8003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업무 연동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980EBD-0A21-4250-ACB4-D72AAACB8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409950"/>
            <a:ext cx="1714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A095"/>
                </a:solidFill>
              </a:defRPr>
            </a:pPr>
            <a:r>
              <a:rPr sz="1350" b="0">
                <a:solidFill>
                  <a:srgbClr val="A8A095"/>
                </a:solidFill>
              </a:rPr>
              <a:t>인증/권한, 사내 쪽지/고객 시스템 API 연동, 배포 자동화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9695D2-BF24-4387-BE09-C2531D6C7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A095"/>
                </a:solidFill>
              </a:defRPr>
            </a:pPr>
            <a:r>
              <a:rPr sz="975" b="0">
                <a:solidFill>
                  <a:srgbClr val="A8A095"/>
                </a:solidFill>
              </a:rPr>
              <a:t>Bong에이전트 MVP · 최종 발표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C96FD29-5FAD-4019-9C5D-B0261ED43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05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4C542"/>
                </a:solidFill>
              </a:defRPr>
            </a:pPr>
            <a:r>
              <a:rPr sz="1200" b="1">
                <a:solidFill>
                  <a:srgbClr val="F4C542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7000756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1111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a13326239c4080"/>
          <a:stretch xmlns:a="http://schemas.openxmlformats.org/drawingml/2006/main"/>
        </p:blipFill>
        <p:spPr>
          <a:xfrm xmlns:a="http://schemas.openxmlformats.org/drawingml/2006/main">
            <a:off x="711403" y="552450"/>
            <a:ext cx="748894" cy="5143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63474E-25E3-4348-9691-29A15DA9C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</a:defRPr>
            </a:pPr>
            <a:r>
              <a:rPr sz="2850" b="1">
                <a:solidFill>
                  <a:srgbClr val="FFFFFF"/>
                </a:solidFill>
              </a:rPr>
              <a:t>발표 데모 포인트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5F4E5B-D104-4465-90B1-793FE4145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66950"/>
            <a:ext cx="7239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5F0E6"/>
                </a:solidFill>
              </a:defRPr>
            </a:pPr>
            <a:r>
              <a:rPr sz="1875" b="0">
                <a:solidFill>
                  <a:srgbClr val="F5F0E6"/>
                </a:solidFill>
              </a:rPr>
              <a:t>1. 자연어로 ToDo 등록</a:t>
            </a:r>
          </a:p>
          <a:p xmlns:a="http://schemas.openxmlformats.org/drawingml/2006/main">
            <a:pPr algn="l">
              <a:defRPr sz="1875" b="0">
                <a:solidFill>
                  <a:srgbClr val="F5F0E6"/>
                </a:solidFill>
              </a:defRPr>
            </a:pPr>
            <a:r>
              <a:rPr sz="1875" b="0">
                <a:solidFill>
                  <a:srgbClr val="F5F0E6"/>
                </a:solidFill>
              </a:rPr>
              <a:t>2. 사내쪽지 메뉴에서 등록/삭제 확인</a:t>
            </a:r>
          </a:p>
          <a:p xmlns:a="http://schemas.openxmlformats.org/drawingml/2006/main">
            <a:pPr algn="l">
              <a:defRPr sz="1875" b="0">
                <a:solidFill>
                  <a:srgbClr val="F5F0E6"/>
                </a:solidFill>
              </a:defRPr>
            </a:pPr>
            <a:r>
              <a:rPr sz="1875" b="0">
                <a:solidFill>
                  <a:srgbClr val="F5F0E6"/>
                </a:solidFill>
              </a:rPr>
              <a:t>3. “쪽지 우선순위 설정해줘”로 LLM 추천 실행</a:t>
            </a:r>
          </a:p>
          <a:p xmlns:a="http://schemas.openxmlformats.org/drawingml/2006/main">
            <a:pPr algn="l">
              <a:defRPr sz="1875" b="0">
                <a:solidFill>
                  <a:srgbClr val="F5F0E6"/>
                </a:solidFill>
              </a:defRPr>
            </a:pPr>
            <a:r>
              <a:rPr sz="1875" b="0">
                <a:solidFill>
                  <a:srgbClr val="F5F0E6"/>
                </a:solidFill>
              </a:rPr>
              <a:t>4. 설정 메뉴에서 agent API endpoint 복사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939852-D897-4878-AD35-38A1E2F55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62500"/>
            <a:ext cx="9525000" cy="74295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191919"/>
          </a:solidFill>
          <a:ln xmlns:a="http://schemas.openxmlformats.org/drawingml/2006/main" w="9525">
            <a:solidFill>
              <a:srgbClr val="34302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6E0710-ADF8-4B54-A618-3C55F0BBF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10150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4C542"/>
                </a:solidFill>
              </a:defRPr>
            </a:pPr>
            <a:r>
              <a:rPr sz="1650" b="1">
                <a:solidFill>
                  <a:srgbClr val="F4C542"/>
                </a:solidFill>
              </a:rPr>
              <a:t>핵심 메시지: 작은 로컬 MVP지만, 업무 데이터와 agent orchestration의 확장 경계를 실험했다.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E466ED-0C7E-465A-B7C5-8D7F7CCC5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A8A095"/>
                </a:solidFill>
              </a:defRPr>
            </a:pPr>
            <a:r>
              <a:rPr sz="975" b="0">
                <a:solidFill>
                  <a:srgbClr val="A8A095"/>
                </a:solidFill>
              </a:rPr>
              <a:t>Bong에이전트 MVP · 최종 발표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64D0CE-888E-4113-AD71-D24F8AC57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63055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F4C542"/>
                </a:solidFill>
              </a:defRPr>
            </a:pPr>
            <a:r>
              <a:rPr sz="1200" b="1">
                <a:solidFill>
                  <a:srgbClr val="F4C542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6519532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2026-07-11T02:19:28.0240000Z</dcterms:created>
  <dcterms:modified xsi:type="dcterms:W3CDTF">2026-07-11T02:19:28.0240000Z</dcterms:modified>
</coreProperties>
</file>